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530" r:id="rId5"/>
    <p:sldId id="547" r:id="rId6"/>
    <p:sldId id="548" r:id="rId7"/>
    <p:sldId id="549" r:id="rId8"/>
    <p:sldId id="550" r:id="rId9"/>
    <p:sldId id="551" r:id="rId10"/>
    <p:sldId id="552" r:id="rId11"/>
    <p:sldId id="553" r:id="rId12"/>
    <p:sldId id="554" r:id="rId13"/>
    <p:sldId id="555" r:id="rId14"/>
    <p:sldId id="556" r:id="rId15"/>
    <p:sldId id="557" r:id="rId16"/>
    <p:sldId id="558" r:id="rId17"/>
    <p:sldId id="54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22"/>
  </p:normalViewPr>
  <p:slideViewPr>
    <p:cSldViewPr snapToGrid="0">
      <p:cViewPr varScale="1">
        <p:scale>
          <a:sx n="97" d="100"/>
          <a:sy n="97" d="100"/>
        </p:scale>
        <p:origin x="10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atasets/Anthropic/persuasio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s.google.com/books?hl=en&amp;lr=&amp;id=GlJAEQAAQBAJ&amp;oi=fnd&amp;pg=PT2&amp;dq=Art+Convincing+AI+Persuade+Humans&amp;ots=qD9zmUeYFP&amp;sig=QUkr_-2_axwCi9GEn6MYg4iVB_s" TargetMode="External"/><Relationship Id="rId2" Type="http://schemas.openxmlformats.org/officeDocument/2006/relationships/hyperlink" Target="https://doi.org/10.48550/arXiv.2303.0872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07/s13347-024-00756-6" TargetMode="External"/><Relationship Id="rId4" Type="http://schemas.openxmlformats.org/officeDocument/2006/relationships/hyperlink" Target="https://doi.org/10.1145/3579592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The Art of Convincing: Can AI Out-Persuade Humans?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Student’s Name</a:t>
            </a:r>
          </a:p>
          <a:p>
            <a:r>
              <a:rPr lang="en-US" dirty="0"/>
              <a:t>University of Hertfordshire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99AD47-5FB1-5D09-F34E-10B36769BA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451CEA-CE41-319D-5409-4E093EB02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ED2B75-37CD-6F9D-DC6B-C124B10AB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 dirty="0"/>
              <a:t>Motivation</a:t>
            </a:r>
          </a:p>
          <a:p>
            <a:r>
              <a:rPr lang="en-US" sz="1600" dirty="0"/>
              <a:t>AI models are increasingly used to generate persuasive text; understanding their effectiveness is critical for safety and alignment.</a:t>
            </a:r>
          </a:p>
          <a:p>
            <a:pPr marL="0" indent="0">
              <a:buNone/>
            </a:pPr>
            <a:r>
              <a:rPr lang="en-US" sz="1600" b="1" dirty="0"/>
              <a:t>Research Question</a:t>
            </a:r>
          </a:p>
          <a:p>
            <a:r>
              <a:rPr lang="en-US" sz="1600" dirty="0"/>
              <a:t>What characteristics of claims and arguments influence initial/final persuasiveness ratings, and how do different prompt types and sources (AI vs Human) affect these metrics?</a:t>
            </a:r>
          </a:p>
        </p:txBody>
      </p:sp>
    </p:spTree>
    <p:extLst>
      <p:ext uri="{BB962C8B-B14F-4D97-AF65-F5344CB8AC3E}">
        <p14:creationId xmlns:p14="http://schemas.microsoft.com/office/powerpoint/2010/main" val="230900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B35BE5-7009-1398-61EB-DB220D45F3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3B5541-3FB8-66F9-68E1-A55879EF9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if previous work related to the project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B0451A-2BA8-F437-4991-E513C83C7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Anthropic (2024) — Released the Persuasion Dataset; 3,939 arguments from 5 Claude versions, human writers, and a control group</a:t>
            </a:r>
          </a:p>
          <a:p>
            <a:r>
              <a:rPr lang="en-US" sz="1800" dirty="0"/>
              <a:t>Bai et al. (2022) — Constitutional AI: training AI to follow human principles and avoid harmful persuasion</a:t>
            </a:r>
          </a:p>
          <a:p>
            <a:r>
              <a:rPr lang="en-US" sz="1800" dirty="0"/>
              <a:t>Cialdini (2001) — Principles of persuasion: reciprocity, commitment, social proof, authority, liking, scarcity</a:t>
            </a:r>
          </a:p>
        </p:txBody>
      </p:sp>
    </p:spTree>
    <p:extLst>
      <p:ext uri="{BB962C8B-B14F-4D97-AF65-F5344CB8AC3E}">
        <p14:creationId xmlns:p14="http://schemas.microsoft.com/office/powerpoint/2010/main" val="1465621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C72ED-7999-A7F0-B33E-AFF3B6F32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BB4E01-8CAE-D5A9-AD58-ADA5EB9E43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398F98-AE70-C5E9-7E2A-FDACECE5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if previous work related to the project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FDF9A2-B189-C04A-060E-9C0AE4E06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075" lvl="1" indent="-346075"/>
            <a:r>
              <a:rPr lang="en-US" dirty="0"/>
              <a:t>Tabular text data — 3,939 records, 8 columns</a:t>
            </a:r>
          </a:p>
          <a:p>
            <a:pPr marL="346075" lvl="1" indent="-346075"/>
            <a:r>
              <a:rPr lang="en-US" dirty="0"/>
              <a:t>Columns: </a:t>
            </a:r>
            <a:r>
              <a:rPr lang="en-US" dirty="0" err="1"/>
              <a:t>worker_id</a:t>
            </a:r>
            <a:r>
              <a:rPr lang="en-US" dirty="0"/>
              <a:t>, claim, argument, source, </a:t>
            </a:r>
            <a:r>
              <a:rPr lang="en-US" dirty="0" err="1"/>
              <a:t>prompt_type</a:t>
            </a:r>
            <a:r>
              <a:rPr lang="en-US" dirty="0"/>
              <a:t>, </a:t>
            </a:r>
            <a:r>
              <a:rPr lang="en-US" dirty="0" err="1"/>
              <a:t>rating_initial</a:t>
            </a:r>
            <a:r>
              <a:rPr lang="en-US" dirty="0"/>
              <a:t>, </a:t>
            </a:r>
            <a:r>
              <a:rPr lang="en-US" dirty="0" err="1"/>
              <a:t>rating_final</a:t>
            </a:r>
            <a:r>
              <a:rPr lang="en-US" dirty="0"/>
              <a:t>, </a:t>
            </a:r>
            <a:r>
              <a:rPr lang="en-US" dirty="0" err="1"/>
              <a:t>persuasiveness_metric</a:t>
            </a:r>
            <a:endParaRPr lang="en-US" dirty="0"/>
          </a:p>
          <a:p>
            <a:pPr marL="346075" lvl="1" indent="-346075"/>
            <a:r>
              <a:rPr lang="en-US" b="1" dirty="0"/>
              <a:t>Dataset link: </a:t>
            </a:r>
            <a:r>
              <a:rPr lang="en-US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Anthropic/persuasion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217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CA536-7A67-5BBF-94AC-ADC8753D6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34DE24-5AF2-40CE-C311-F2B572B7BF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792BF2-8206-6EFE-41E4-5E3B11CDF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implications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9A262D-4FBF-F73C-2F1D-A0098950D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No personal data — worker IDs are </a:t>
            </a:r>
            <a:r>
              <a:rPr lang="en-US" sz="1600" dirty="0" err="1"/>
              <a:t>anonymised</a:t>
            </a:r>
            <a:r>
              <a:rPr lang="en-US" sz="1600" dirty="0"/>
              <a:t> codes (e.g. PQVTZECGNK3K)</a:t>
            </a:r>
          </a:p>
          <a:p>
            <a:r>
              <a:rPr lang="en-US" sz="1600" dirty="0"/>
              <a:t>Consent was obtained to use the data for this project – go to website and see the license.</a:t>
            </a:r>
          </a:p>
          <a:p>
            <a:r>
              <a:rPr lang="en-US" sz="1600" dirty="0"/>
              <a:t>Deceptive prompt type raises concerns — arguments designed to mislead; used for research analysis only, not deployment</a:t>
            </a:r>
          </a:p>
          <a:p>
            <a:r>
              <a:rPr lang="en-US" sz="1600" dirty="0"/>
              <a:t>Data stored locally and on Google </a:t>
            </a:r>
            <a:r>
              <a:rPr lang="en-US" sz="1600" dirty="0" err="1"/>
              <a:t>Colab</a:t>
            </a:r>
            <a:r>
              <a:rPr lang="en-US" sz="1600" dirty="0"/>
              <a:t> — no redistribution; analysis does not reproduce manipulative arguments verbatim.</a:t>
            </a:r>
          </a:p>
        </p:txBody>
      </p:sp>
    </p:spTree>
    <p:extLst>
      <p:ext uri="{BB962C8B-B14F-4D97-AF65-F5344CB8AC3E}">
        <p14:creationId xmlns:p14="http://schemas.microsoft.com/office/powerpoint/2010/main" val="1231014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8416E-FF9F-EA14-64C1-D570B3380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BF2516-E8F5-081D-E8EE-89035F2731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5089C9-A5A2-2121-E82F-5E89F8FD5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D3E5A3-C180-A8BF-28F8-E502AA91C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22680"/>
            <a:ext cx="4805614" cy="3282696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Key EDA Findings</a:t>
            </a:r>
          </a:p>
          <a:p>
            <a:r>
              <a:rPr lang="en-US" sz="1600" dirty="0"/>
              <a:t>Avg. initial rating: 4.20/7 | Avg. final rating: 4.61/7 | Mean persuasion shift: +0.42</a:t>
            </a:r>
          </a:p>
          <a:p>
            <a:r>
              <a:rPr lang="en-US" sz="1600" dirty="0"/>
              <a:t>82.7% minimal change | 11.1% more persuaded | 6.2% more opposed</a:t>
            </a:r>
          </a:p>
          <a:p>
            <a:pPr marL="0" indent="0">
              <a:buNone/>
            </a:pPr>
            <a:r>
              <a:rPr lang="en-US" sz="1600" b="1" dirty="0"/>
              <a:t>Source distribution:</a:t>
            </a:r>
          </a:p>
          <a:p>
            <a:r>
              <a:rPr lang="en-US" sz="1600" dirty="0"/>
              <a:t>672 arguments per Claude model | 522 Human | 57 Control</a:t>
            </a:r>
          </a:p>
          <a:p>
            <a:r>
              <a:rPr lang="en-US" sz="1600" dirty="0"/>
              <a:t>522 missing </a:t>
            </a:r>
            <a:r>
              <a:rPr lang="en-US" sz="1600" dirty="0" err="1"/>
              <a:t>prompt_type</a:t>
            </a:r>
            <a:r>
              <a:rPr lang="en-US" sz="1600" dirty="0"/>
              <a:t> values (Human rows labelled “Unknown”)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0EF27B-1B32-D39D-D376-6D2F764D63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54458"/>
          <a:stretch>
            <a:fillRect/>
          </a:stretch>
        </p:blipFill>
        <p:spPr bwMode="auto">
          <a:xfrm>
            <a:off x="6474890" y="212703"/>
            <a:ext cx="2965672" cy="2156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86E138-52DE-79E6-F4FB-898036F93D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55317"/>
          <a:stretch>
            <a:fillRect/>
          </a:stretch>
        </p:blipFill>
        <p:spPr bwMode="auto">
          <a:xfrm>
            <a:off x="9440562" y="212704"/>
            <a:ext cx="2719567" cy="1940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7ED474-4506-AF9C-9A94-E4D2BF2B7B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27" r="50000"/>
          <a:stretch>
            <a:fillRect/>
          </a:stretch>
        </p:blipFill>
        <p:spPr bwMode="auto">
          <a:xfrm>
            <a:off x="6474890" y="2369574"/>
            <a:ext cx="2865755" cy="250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6BA5D7-CE2C-691E-FA83-82A85932D4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5327" b="8258"/>
          <a:stretch>
            <a:fillRect/>
          </a:stretch>
        </p:blipFill>
        <p:spPr bwMode="auto">
          <a:xfrm>
            <a:off x="9326245" y="2369574"/>
            <a:ext cx="2865755" cy="21241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9580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0F037-8906-C1AD-9A66-305BB194F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97AAA7-3C16-D563-4B01-FAC4CB51A1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D137F2-A9C0-482E-FCD6-8E792E147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Pre-processing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72A4C5-1E78-ACBF-856D-C5A40D640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22680"/>
            <a:ext cx="4805614" cy="3282696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800" dirty="0"/>
              <a:t>Rating conversion: text labels (“1 - Strongly oppose”) mapped to numeric 1–7 scale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Text cleaning: lowercase, punctuation removal, whitespace </a:t>
            </a:r>
            <a:r>
              <a:rPr lang="en-US" sz="1800" dirty="0" err="1"/>
              <a:t>normalisation</a:t>
            </a:r>
            <a:r>
              <a:rPr lang="en-US" sz="1800" dirty="0"/>
              <a:t> on argument text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Missing values: 522 null </a:t>
            </a:r>
            <a:r>
              <a:rPr lang="en-US" sz="1800" dirty="0" err="1"/>
              <a:t>prompt_type</a:t>
            </a:r>
            <a:r>
              <a:rPr lang="en-US" sz="1800" dirty="0"/>
              <a:t> rows filled with “Unknown”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95743B-CDB3-0C71-A19D-D8B582690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685" y="0"/>
            <a:ext cx="4307918" cy="4635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31F710-6337-57F1-97D1-A57C7C2A5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685" y="4675793"/>
            <a:ext cx="3730210" cy="218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403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C9F54-1CFA-4541-06AC-5CCA549AE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7DB2C1-DD46-D9FB-076C-799CD02D9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23F684-2E8D-1362-CE43-11FFAFB75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used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A06D8F-8949-A310-8D0C-E10389954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22680"/>
            <a:ext cx="4805614" cy="3282696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600" dirty="0"/>
              <a:t>Three modelling approaches used in this project:</a:t>
            </a:r>
          </a:p>
          <a:p>
            <a:pPr marL="688975" indent="-346075"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OLS Linear Regression — predicting final rating from text features + initial rating (R² = 0.79)</a:t>
            </a:r>
          </a:p>
          <a:p>
            <a:pPr marL="688975" indent="-346075"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Random Forest Regressor — non-linear feature importance ranking (R² = 0.94)</a:t>
            </a:r>
          </a:p>
          <a:p>
            <a:pPr marL="688975" indent="-346075">
              <a:spcBef>
                <a:spcPts val="0"/>
              </a:spcBef>
              <a:buFont typeface="+mj-lt"/>
              <a:buAutoNum type="arabicPeriod"/>
            </a:pPr>
            <a:r>
              <a:rPr lang="en-US" sz="1600" dirty="0" err="1"/>
              <a:t>QLoRA</a:t>
            </a:r>
            <a:r>
              <a:rPr lang="en-US" sz="1600" dirty="0"/>
              <a:t> Fine-tuning (</a:t>
            </a:r>
            <a:r>
              <a:rPr lang="en-US" sz="1600" dirty="0" err="1"/>
              <a:t>Unsloth</a:t>
            </a:r>
            <a:r>
              <a:rPr lang="en-US" sz="1600" dirty="0"/>
              <a:t>) — TinyLLaMA-chat-4bit and LLaMA-3.2-1b-4bit fine-tuned for 3-class persuasion-shift classification (5 epochs, r=16, 4-bit NF4)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AD6CEC-4875-3B01-C3A4-0F004729F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67" y="196832"/>
            <a:ext cx="3690179" cy="30478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242282-5A00-9715-096B-C0A54CA53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305" y="3378473"/>
            <a:ext cx="3695341" cy="287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95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5393B-403C-1DAA-E0B5-FC91C570A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248F62-EB8F-9619-AEE0-85A8F8916B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4E4E1B-E150-52A7-CDFF-0EE8BAC91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411480"/>
            <a:ext cx="8878824" cy="1069848"/>
          </a:xfrm>
        </p:spPr>
        <p:txBody>
          <a:bodyPr/>
          <a:lstStyle/>
          <a:p>
            <a:r>
              <a:rPr lang="en-US" dirty="0"/>
              <a:t>Model results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A4DF29-A861-4E5D-1733-E17195E9D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1481328"/>
            <a:ext cx="4805614" cy="3282696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/>
              <a:t>Regression Results</a:t>
            </a:r>
          </a:p>
          <a:p>
            <a:r>
              <a:rPr lang="en-US" sz="1400" dirty="0"/>
              <a:t>OLS: only </a:t>
            </a:r>
            <a:r>
              <a:rPr lang="en-US" sz="1400" dirty="0" err="1"/>
              <a:t>rating_initial</a:t>
            </a:r>
            <a:r>
              <a:rPr lang="en-US" sz="1400" dirty="0"/>
              <a:t> significant (p &lt; 0.001, </a:t>
            </a:r>
            <a:r>
              <a:rPr lang="en-US" sz="1400" dirty="0" err="1"/>
              <a:t>coeff</a:t>
            </a:r>
            <a:r>
              <a:rPr lang="en-US" sz="1400" dirty="0"/>
              <a:t> = 1.69); text features not significant for final rating</a:t>
            </a:r>
          </a:p>
          <a:p>
            <a:r>
              <a:rPr lang="en-US" sz="1400" dirty="0"/>
              <a:t>RF: </a:t>
            </a:r>
            <a:r>
              <a:rPr lang="en-US" sz="1400" dirty="0" err="1"/>
              <a:t>rating_initial</a:t>
            </a:r>
            <a:r>
              <a:rPr lang="en-US" sz="1400" dirty="0"/>
              <a:t> dominates (importance = 0.81); </a:t>
            </a:r>
            <a:r>
              <a:rPr lang="en-US" sz="1400" dirty="0" err="1"/>
              <a:t>argument_length</a:t>
            </a:r>
            <a:r>
              <a:rPr lang="en-US" sz="1400" dirty="0"/>
              <a:t> (0.06) and </a:t>
            </a:r>
            <a:r>
              <a:rPr lang="en-US" sz="1400" dirty="0" err="1"/>
              <a:t>avg_sentence_length</a:t>
            </a:r>
            <a:r>
              <a:rPr lang="en-US" sz="1400" dirty="0"/>
              <a:t> (0.05) follow</a:t>
            </a:r>
          </a:p>
          <a:p>
            <a:pPr marL="0" indent="0">
              <a:buNone/>
            </a:pPr>
            <a:r>
              <a:rPr lang="en-US" sz="1400" b="1" dirty="0" err="1"/>
              <a:t>QLoRA</a:t>
            </a:r>
            <a:r>
              <a:rPr lang="en-US" sz="1400" b="1" dirty="0"/>
              <a:t> Results (5 epochs)</a:t>
            </a:r>
          </a:p>
          <a:p>
            <a:r>
              <a:rPr lang="en-US" sz="1400" dirty="0" err="1"/>
              <a:t>TinyLLaMA</a:t>
            </a:r>
            <a:r>
              <a:rPr lang="en-US" sz="1400" dirty="0"/>
              <a:t>: Accuracy = 63.9%, F1 Macro = 0.26, Train time = 444s</a:t>
            </a:r>
          </a:p>
          <a:p>
            <a:r>
              <a:rPr lang="en-US" sz="1400" dirty="0"/>
              <a:t>LLaMA-3.2-1B: Accuracy = 63.9%, F1 Macro = 0.26, Train time = 350s (faster)</a:t>
            </a:r>
          </a:p>
          <a:p>
            <a:r>
              <a:rPr lang="en-US" sz="1400" dirty="0"/>
              <a:t>Both models predict Neutral class only; class imbalance (64% Neutral) limits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8BFBD0-C1C5-0414-4D8C-6C6C75CE0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67" y="196832"/>
            <a:ext cx="3690179" cy="30478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D23CD8-ADEE-E84E-AFCA-536223861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66" y="3813868"/>
            <a:ext cx="5140917" cy="168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47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24950-38C5-01F3-E304-E1CAC6756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43BEA7-6484-E7EF-9EBB-DAD1666414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FA852D-1BD3-623D-C1DB-65567188A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566928"/>
            <a:ext cx="5297227" cy="500626"/>
          </a:xfrm>
        </p:spPr>
        <p:txBody>
          <a:bodyPr/>
          <a:lstStyle/>
          <a:p>
            <a:r>
              <a:rPr lang="en-US" sz="2400" dirty="0"/>
              <a:t>Hyperparameter tuning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423643-A3D9-7204-6427-8658FF8E5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1481328"/>
            <a:ext cx="4805614" cy="3282696"/>
          </a:xfrm>
        </p:spPr>
        <p:txBody>
          <a:bodyPr/>
          <a:lstStyle/>
          <a:p>
            <a:r>
              <a:rPr lang="en-US" sz="1400" dirty="0"/>
              <a:t>r=16, </a:t>
            </a:r>
            <a:r>
              <a:rPr lang="en-US" sz="1400" dirty="0" err="1"/>
              <a:t>lora_alpha</a:t>
            </a:r>
            <a:r>
              <a:rPr lang="en-US" sz="1400" dirty="0"/>
              <a:t>=16, dropout=0.05 | Targets: q/k/v/</a:t>
            </a:r>
            <a:r>
              <a:rPr lang="en-US" sz="1400" dirty="0" err="1"/>
              <a:t>o_proj</a:t>
            </a:r>
            <a:r>
              <a:rPr lang="en-US" sz="1400" dirty="0"/>
              <a:t> | Epochs: 5, LR: 2e-4, batch: 4, </a:t>
            </a:r>
            <a:r>
              <a:rPr lang="en-US" sz="1400" dirty="0" err="1"/>
              <a:t>grad_accum</a:t>
            </a:r>
            <a:r>
              <a:rPr lang="en-US" sz="1400" dirty="0"/>
              <a:t>: 4</a:t>
            </a:r>
          </a:p>
          <a:p>
            <a:pPr marL="0" indent="0">
              <a:buNone/>
            </a:pPr>
            <a:r>
              <a:rPr lang="en-US" sz="1400" b="1" dirty="0"/>
              <a:t>Effect of Epochs (1 vs 5):</a:t>
            </a:r>
          </a:p>
          <a:p>
            <a:r>
              <a:rPr lang="en-US" sz="1400" dirty="0"/>
              <a:t>Train loss dropped from ~1.76 (step 20) to ~0.34 (step 320) for </a:t>
            </a:r>
            <a:r>
              <a:rPr lang="en-US" sz="1400" dirty="0" err="1"/>
              <a:t>TinyLLaMA</a:t>
            </a:r>
            <a:r>
              <a:rPr lang="en-US" sz="1400" dirty="0"/>
              <a:t> across 5 epochs</a:t>
            </a:r>
          </a:p>
          <a:p>
            <a:r>
              <a:rPr lang="en-US" sz="1400" dirty="0"/>
              <a:t>Despite lower loss, generative models still defaulted to Neutral — class imbalance is the bottleneck, not hyperparameters</a:t>
            </a:r>
          </a:p>
          <a:p>
            <a:r>
              <a:rPr lang="en-US" sz="1400" dirty="0"/>
              <a:t>Next: use weighted loss or oversample minority classes to improve F1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FE8606-5B76-8CB2-2DA2-1FC6298C5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374" y="411481"/>
            <a:ext cx="2908156" cy="23907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B00D85-4389-1E07-A32C-2D94F8D0E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375" y="2802196"/>
            <a:ext cx="2910846" cy="24973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CA2ECD-C63B-0BEB-CEB7-DACB9E022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0531" y="411480"/>
            <a:ext cx="2811470" cy="291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377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43703-C8FA-9D39-B5F6-34F006F0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9166A3-1566-38F1-FD44-20C368D54C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1E55D7-5583-20DA-D4FA-B9B45D856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566928"/>
            <a:ext cx="5297227" cy="500626"/>
          </a:xfrm>
        </p:spPr>
        <p:txBody>
          <a:bodyPr/>
          <a:lstStyle/>
          <a:p>
            <a:r>
              <a:rPr lang="en-US" dirty="0"/>
              <a:t>analysis</a:t>
            </a:r>
            <a:endParaRPr lang="en-US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779DB6-C4A3-E7CB-0E2E-EB0439C71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1481328"/>
            <a:ext cx="4559808" cy="4809744"/>
          </a:xfrm>
        </p:spPr>
        <p:txBody>
          <a:bodyPr/>
          <a:lstStyle/>
          <a:p>
            <a:r>
              <a:rPr lang="en-US" sz="1600" dirty="0"/>
              <a:t>Human arguments outperform AI (final rating 4.88 vs 4.56, p=0.0003); persuasion shift difference not significant (p=0.056)</a:t>
            </a:r>
          </a:p>
          <a:p>
            <a:r>
              <a:rPr lang="en-US" sz="1600" dirty="0"/>
              <a:t>Deceptive prompt achieves highest mean shift (0.47) among AI strategies; Expert Writer Rhetorics lowest (0.30)</a:t>
            </a:r>
          </a:p>
          <a:p>
            <a:r>
              <a:rPr lang="en-US" sz="1600" dirty="0"/>
              <a:t>Claude 3 Opus most persuasive AI source (shift = 0.48); Claude Instant 1.2 least (0.34)</a:t>
            </a:r>
          </a:p>
          <a:p>
            <a:r>
              <a:rPr lang="en-US" sz="1600" dirty="0"/>
              <a:t>63.9% </a:t>
            </a:r>
            <a:r>
              <a:rPr lang="en-US" sz="1600" dirty="0" err="1"/>
              <a:t>QLoRA</a:t>
            </a:r>
            <a:r>
              <a:rPr lang="en-US" sz="1600" dirty="0"/>
              <a:t> accuracy equals majority-class baseline — models failed to learn minority classes.</a:t>
            </a:r>
          </a:p>
        </p:txBody>
      </p:sp>
    </p:spTree>
    <p:extLst>
      <p:ext uri="{BB962C8B-B14F-4D97-AF65-F5344CB8AC3E}">
        <p14:creationId xmlns:p14="http://schemas.microsoft.com/office/powerpoint/2010/main" val="110836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C597B-295B-278C-3F93-B92337B1C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FAEF24-CB59-1F5B-972E-8DB2B38A5B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B6A6FB-4A8B-7014-B5D3-556FA59B0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566928"/>
            <a:ext cx="8827008" cy="500626"/>
          </a:xfrm>
        </p:spPr>
        <p:txBody>
          <a:bodyPr/>
          <a:lstStyle/>
          <a:p>
            <a:r>
              <a:rPr lang="en-US" dirty="0"/>
              <a:t>Summary and conclusions</a:t>
            </a:r>
            <a:endParaRPr lang="en-US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89769B-9EF2-E521-4470-A230373BA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1481328"/>
            <a:ext cx="8974492" cy="4809744"/>
          </a:xfrm>
        </p:spPr>
        <p:txBody>
          <a:bodyPr/>
          <a:lstStyle/>
          <a:p>
            <a:r>
              <a:rPr lang="en-US" sz="1800" dirty="0" err="1"/>
              <a:t>Analysed</a:t>
            </a:r>
            <a:r>
              <a:rPr lang="en-US" sz="1800" dirty="0"/>
              <a:t> Anthropic Persuasion Dataset (3,939 records) to measure persuasion shifts and identify drivers</a:t>
            </a:r>
          </a:p>
          <a:p>
            <a:r>
              <a:rPr lang="en-US" sz="1800" dirty="0"/>
              <a:t>Initial position strongly predicts final rating (OLS R²=0.79); text features alone explain little variance</a:t>
            </a:r>
          </a:p>
          <a:p>
            <a:r>
              <a:rPr lang="en-US" sz="1800" dirty="0"/>
              <a:t>Human arguments are statistically more persuasive than AI; Deceptive prompts most effective AI strategy; no significant prompt-source interaction</a:t>
            </a:r>
          </a:p>
          <a:p>
            <a:r>
              <a:rPr lang="en-US" sz="1800" dirty="0" err="1"/>
              <a:t>QLoRA</a:t>
            </a:r>
            <a:r>
              <a:rPr lang="en-US" sz="1800" dirty="0"/>
              <a:t> fine-tuning (63.9% accuracy) reveals class imbalance challenge; LLaMA-3.2-1B trains 21% faster than </a:t>
            </a:r>
            <a:r>
              <a:rPr lang="en-US" sz="1800" dirty="0" err="1"/>
              <a:t>TinyLLaMA</a:t>
            </a:r>
            <a:endParaRPr lang="en-US" sz="1800" dirty="0"/>
          </a:p>
          <a:p>
            <a:pPr lvl="1"/>
            <a:r>
              <a:rPr lang="en-US" sz="1800" dirty="0"/>
              <a:t>Next steps: BERT-based classification, weighted loss, larger dataset fine-tuning, sentiment analysis pipeline</a:t>
            </a:r>
          </a:p>
        </p:txBody>
      </p:sp>
    </p:spTree>
    <p:extLst>
      <p:ext uri="{BB962C8B-B14F-4D97-AF65-F5344CB8AC3E}">
        <p14:creationId xmlns:p14="http://schemas.microsoft.com/office/powerpoint/2010/main" val="2023854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97984-0A96-FF81-569F-098141AA3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0F15D5-6F22-5A9A-B48F-71790E2515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0A8C6D-07BD-7918-E111-1CEDC9F83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566928"/>
            <a:ext cx="8827008" cy="500626"/>
          </a:xfrm>
        </p:spPr>
        <p:txBody>
          <a:bodyPr/>
          <a:lstStyle/>
          <a:p>
            <a:r>
              <a:rPr lang="en-US" dirty="0"/>
              <a:t>references</a:t>
            </a:r>
            <a:endParaRPr lang="en-US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56F504-6273-DCE6-728C-FE0D5FCF0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1481328"/>
            <a:ext cx="8974492" cy="4809744"/>
          </a:xfrm>
        </p:spPr>
        <p:txBody>
          <a:bodyPr/>
          <a:lstStyle/>
          <a:p>
            <a:pPr marL="457200" marR="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Barale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A. (2021) ‘“Who inspires who?” Aesthetics in front of AI art’, </a:t>
            </a:r>
            <a:r>
              <a:rPr lang="en-US" sz="14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Philosophical Inquiries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9(2), pp. 195–220.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Burtell, M. and Woodside, T. (2023) ‘Artificial Influence: An Analysis Of AI-Driven Persuasion’. </a:t>
            </a:r>
            <a:r>
              <a:rPr lang="en-US" sz="14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arXiv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Available at: </a:t>
            </a:r>
            <a:r>
              <a:rPr lang="en-US" sz="1400" u="sng" kern="100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https://doi.org/10.48550/arXiv.2303.08721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Dehnert, M. and Mongeau, P.A. (2022) ‘Persuasion in the age of artificial intelligence (AI): Theories and complications of AI-based persuasion’, </a:t>
            </a:r>
            <a:r>
              <a:rPr lang="en-US" sz="14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Human Communication Research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48(3), pp. 386–403.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Fischetti, M.R. (2025) </a:t>
            </a:r>
            <a:r>
              <a:rPr lang="en-US" sz="14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Decoding the Art of Persuasion: Structures and Strategies for Human and AI Dynamics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Digital Index </a:t>
            </a:r>
            <a:r>
              <a:rPr lang="en-US" sz="14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Editore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Available at: </a:t>
            </a:r>
            <a:r>
              <a:rPr lang="en-US" sz="1400" u="sng" kern="100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https://books.google.com/books?hl=en&amp;lr=&amp;id=GlJAEQAAQBAJ&amp;oi=fnd&amp;pg=PT2&amp;dq=Art+Convincing+AI+Persuade+Humans&amp;ots=qD9zmUeYFP&amp;sig=QUkr_-2_axwCi9GEn6MYg4iVB_s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(Accessed: 7 February 2026).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Huang, G. and Wang, S. (2023) ‘Is artificial intelligence more persuasive than humans? A meta-analysis’, </a:t>
            </a:r>
            <a:r>
              <a:rPr lang="en-US" sz="14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Journal of Communication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73(6), pp. 552–562.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Karinshak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E., Liu, S.X., Park, J.S. and Hancock, J.T. (2023) ‘Working With AI to Persuade: Examining a Large Language Model’s Ability to Generate Pro-Vaccination Messages’, </a:t>
            </a:r>
            <a:r>
              <a:rPr lang="en-US" sz="14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Proceedings of the ACM on Human-Computer Interaction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7(CSCW1), pp. 1–29. Available at: </a:t>
            </a:r>
            <a:r>
              <a:rPr lang="en-US" sz="1400" u="sng" kern="100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https://doi.org/10.1145/3579592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Lin, H., </a:t>
            </a:r>
            <a:r>
              <a:rPr lang="en-US" sz="14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Czarnek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G., Lewis, B., White, J.P., Berinsky, A.J., Costello, T., Pennycook, G. and Rand, D.G. (2025) ‘Persuading voters using human–artificial intelligence dialogues’, </a:t>
            </a:r>
            <a:r>
              <a:rPr lang="en-US" sz="14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Nature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pp. 1–8.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Luciano, F. (2024) ‘</a:t>
            </a:r>
            <a:r>
              <a:rPr lang="en-US" sz="14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Hypersuasion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On AI’s Persuasive Power and How to Deal with It’, </a:t>
            </a:r>
            <a:r>
              <a:rPr lang="en-US" sz="14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Philosophy &amp; Technology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37(2), pp. 64, s13347-024-00756–6. Available at: </a:t>
            </a:r>
            <a:r>
              <a:rPr lang="en-US" sz="1400" u="sng" kern="100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https://doi.org/10.1007/s13347-024-00756-6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Millet, K., Buehler, F., Du, G. and </a:t>
            </a:r>
            <a:r>
              <a:rPr lang="en-US" sz="14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Kokkoris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M.D. (2023) ‘Defending humankind: Anthropocentric bias in the appreciation of AI art’, </a:t>
            </a:r>
            <a:r>
              <a:rPr lang="en-US" sz="14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Computers in Human Behavior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143, p. 107707.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Ruiz-Arellano, A.E., Mejía-Medina, D.A., Castillo-Topete, V.H., Fong-Mata, M.B., Hernández-Torres, E.L., Rodríguez-Valenzuela, P. and Berra-Ruiz, E. (2022) ‘Addressing the use of artificial intelligence tools in the design of visual persuasive discourses’, </a:t>
            </a:r>
            <a:r>
              <a:rPr lang="en-US" sz="1400" i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Designs</a:t>
            </a:r>
            <a:r>
              <a:rPr lang="en-US" sz="1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6(6), p. 124.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496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55</TotalTime>
  <Words>1363</Words>
  <PresentationFormat>Widescreen</PresentationFormat>
  <Paragraphs>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Courier New</vt:lpstr>
      <vt:lpstr>Segoe UI Light</vt:lpstr>
      <vt:lpstr>Times New Roman</vt:lpstr>
      <vt:lpstr>Tw Cen MT</vt:lpstr>
      <vt:lpstr>Office Theme</vt:lpstr>
      <vt:lpstr>The Art of Convincing: Can AI Out-Persuade Humans?</vt:lpstr>
      <vt:lpstr>introduction</vt:lpstr>
      <vt:lpstr>Overview if previous work related to the project</vt:lpstr>
      <vt:lpstr>Overview if previous work related to the project</vt:lpstr>
      <vt:lpstr>Ethical implications</vt:lpstr>
      <vt:lpstr>EDA</vt:lpstr>
      <vt:lpstr>Pre-processing</vt:lpstr>
      <vt:lpstr>Model used</vt:lpstr>
      <vt:lpstr>Model results</vt:lpstr>
      <vt:lpstr>Hyperparameter tuning</vt:lpstr>
      <vt:lpstr>analysis</vt:lpstr>
      <vt:lpstr>Summary and conclusions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terms:created xsi:type="dcterms:W3CDTF">2026-03-22T14:13:13Z</dcterms:created>
  <dcterms:modified xsi:type="dcterms:W3CDTF">2026-03-22T15:08:18Z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